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ACADEMIC CAPSTONE PROJECT • CLASSICAL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Intelligent EV Charging &amp;</a:t>
            </a:r>
            <a:br/>
            <a:r>
              <a:t>Resource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C3D7"/>
                </a:solidFill>
              </a:defRPr>
            </a:pPr>
            <a:r>
              <a:t>A Multi-Agent Classical Decision Support Platform for Urban Fleet Routing,</a:t>
            </a:r>
            <a:br/>
            <a:r>
              <a:t>Grid Load Optimization, and Dynamic Constraint Satisfaction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645920"/>
          </a:xfrm>
          <a:prstGeom prst="roundRect">
            <a:avLst/>
          </a:prstGeom>
          <a:solidFill>
            <a:srgbClr val="162A4A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1645920"/>
          </a:xfrm>
          <a:prstGeom prst="roundRect">
            <a:avLst/>
          </a:prstGeom>
          <a:solidFill>
            <a:srgbClr val="162A4A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C7211"/>
                </a:solidFill>
              </a:defRPr>
            </a:pPr>
            <a:r>
              <a:t>PRESENTED BY: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Sam Devaraja J</a:t>
            </a:r>
          </a:p>
          <a:p>
            <a:pPr>
              <a:defRPr sz="1200">
                <a:solidFill>
                  <a:srgbClr val="C8D7EB"/>
                </a:solidFill>
              </a:defRPr>
            </a:pPr>
            <a:r>
              <a:t>Roll No: 240701463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C7211"/>
                </a:solidFill>
              </a:defRPr>
            </a:pPr>
            <a:r>
              <a:t>PRESENTED BY: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Karthik Subramanian S</a:t>
            </a:r>
          </a:p>
          <a:p>
            <a:pPr>
              <a:defRPr sz="1200">
                <a:solidFill>
                  <a:srgbClr val="C8D7EB"/>
                </a:solidFill>
              </a:defRPr>
            </a:pPr>
            <a:r>
              <a:t>Roll No: 240701233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CA0B9"/>
                </a:solidFill>
              </a:defRPr>
            </a:pPr>
            <a:r>
              <a:t>100% Deterministic Classical AI • Zero Neural Networks • Verified Pan-India Dataset •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OPERATIONAL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The Urban EV Charging Infrastructure Trilemma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EV DRIVERS (Demand Side)</a:t>
            </a:r>
          </a:p>
          <a:p>
            <a:pPr>
              <a:defRPr sz="1050">
                <a:solidFill>
                  <a:srgbClr val="16191F"/>
                </a:solidFill>
              </a:defRPr>
            </a:pPr>
            <a:r>
              <a:t>• Range Anxiety &amp; Queues: Drivers face 40+ min unexpected waiting times at popular metro charging hubs.</a:t>
            </a:r>
            <a:br/>
            <a:r>
              <a:t>• Route Deadlines: Commuter trips fail if charging sessions violate personal departure deadlines.</a:t>
            </a:r>
            <a:br/>
            <a:r>
              <a:t>• Cost Volatility: High peak tariffs without visibility into cheaper nearby off-peak stations.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109728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STATION OPERATORS (Service Side)</a:t>
            </a:r>
          </a:p>
          <a:p>
            <a:pPr>
              <a:defRPr sz="1050">
                <a:solidFill>
                  <a:srgbClr val="16191F"/>
                </a:solidFill>
              </a:defRPr>
            </a:pPr>
            <a:r>
              <a:t>• Uneven Bay Utilization: Popular stations experience severe bottlenecking while adjacent hubs sit idle.</a:t>
            </a:r>
            <a:br/>
            <a:r>
              <a:t>• Hardware Thermal Stress: Concurrent fast DC charging sessions cause equipment degradation.</a:t>
            </a:r>
            <a:br/>
            <a:r>
              <a:t>• Revenue Predictability: Uncoordinated arrivals create spiky, unpredictable utilization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109728"/>
          </a:xfrm>
          <a:prstGeom prst="rect">
            <a:avLst/>
          </a:prstGeom>
          <a:solidFill>
            <a:srgbClr val="037F0C"/>
          </a:solidFill>
          <a:ln>
            <a:solidFill>
              <a:srgbClr val="037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7F0C"/>
                </a:solidFill>
              </a:defRPr>
            </a:pPr>
            <a:r>
              <a:t>POWER GRID (Resource Side)</a:t>
            </a:r>
          </a:p>
          <a:p>
            <a:pPr>
              <a:defRPr sz="1050">
                <a:solidFill>
                  <a:srgbClr val="16191F"/>
                </a:solidFill>
              </a:defRPr>
            </a:pPr>
            <a:r>
              <a:t>• Substation Overload: Coincident 150 kW DC charging breaches local transformer ratings (300–450 kW).</a:t>
            </a:r>
            <a:br/>
            <a:r>
              <a:t>• Costly Grid Upgrades: Utilities face multi-million dollar transformer replacement mandates.</a:t>
            </a:r>
            <a:br/>
            <a:r>
              <a:t>• Wasted Renewables: On-site solar generation curves go underutilized during mid-day peak solar.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698480" cy="777240"/>
          </a:xfrm>
          <a:prstGeom prst="roundRect">
            <a:avLst/>
          </a:prstGeom>
          <a:solidFill>
            <a:srgbClr val="F2F8FD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CORE CHALLENGE: Conventional greedy routing (nearest station) triggers herd behavior and localized grid collapse. A multi-objective, classical AI coordination architecture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MATHEMATICAL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Constrained Multi-Objective Optimization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GLOBAL OBJECTIVE FUNCTION: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Minimize  Φ(X) =  Σ [ w1 · t_wait(i) + w2 · d_travel(i) + w3 · C_charge(i) ]  -  w4 · E_solar_used</a:t>
            </a:r>
          </a:p>
          <a:p>
            <a:pPr>
              <a:defRPr sz="1100">
                <a:solidFill>
                  <a:srgbClr val="B4C8E1"/>
                </a:solidFill>
              </a:defRPr>
            </a:pPr>
            <a:r>
              <a:t>Where  w1, w2, w3, w4 ∈ [0, 1],  Σ w_k = 1.0  |  X = Joint vehicle-to-slot assignment vector across horizon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C1: Transformer Thermal Ceiling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Σ P_s(t) ≤ P_grid_max(t),  ∀ t ∈ T</a:t>
            </a:r>
            <a:br/>
            <a:r>
              <a:t>Total power draw across all chargers cannot exceed local substation transformer rating (300–450 kW).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089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246120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C2: Charger Port Exclusivity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Σ 1_{X_i = (s, k, t)} ≤ 1,  ∀ s, k, t</a:t>
            </a:r>
            <a:br/>
            <a:r>
              <a:t>No physical charging bay (k) can serve more than one EV during the same 15-minute time slot 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C3: User Departure Deadline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t_start(i) + t_duration(i) ≤ t_deadline(i),  ∀ i</a:t>
            </a:r>
            <a:br/>
            <a:r>
              <a:t>Charging session must conclude before driver-specified departure deadline; 100% hard constraint.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75488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892040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C4: Emergency Ambulance Preemption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Priority(e) = CRITICAL  ⇒  Preempt Low Priority</a:t>
            </a:r>
            <a:br/>
            <a:r>
              <a:t>Emergency responders (Ambulance 108) must receive immediate full-rate allocation without delay.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AI AGENT FOUNDATIONS (RUSSELL &amp; NORVIG)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PEAS Framework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606040" cy="109728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331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72D3"/>
                </a:solidFill>
              </a:defRPr>
            </a:pPr>
            <a:r>
              <a:t>PERFORMANCE MEASURE (P)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Wait Time: Average driver queue delay &lt; 5.0 min</a:t>
            </a:r>
            <a:br/>
            <a:r>
              <a:t>• Grid Safety: Exactly 0 transformer overload events</a:t>
            </a:r>
            <a:br/>
            <a:r>
              <a:t>• Port Utilization: Maintain &gt; 85% balanced bay usage</a:t>
            </a:r>
            <a:br/>
            <a:r>
              <a:t>• Emergency Reliability: 100% on-time priority dispatch</a:t>
            </a:r>
            <a:br/>
            <a:r>
              <a:t>• Solar Adoption: Maximize localized clean solar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060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606040" cy="109728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331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ENVIRONMENT (E)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Road Topology: Metropolitan street network graph</a:t>
            </a:r>
            <a:br/>
            <a:r>
              <a:t>• 72 Stations: Authentic Indian metro hubs (Shell, BPCL)</a:t>
            </a:r>
            <a:br/>
            <a:r>
              <a:t>• Multimodal Hardware: CCS2 (50–150kW) &amp; Type-2 AC</a:t>
            </a:r>
            <a:br/>
            <a:r>
              <a:t>• Distribution Grid: Substation load profile (300–450kW)</a:t>
            </a:r>
            <a:br/>
            <a:r>
              <a:t>• Dynamic Demand: Stochastic influx of private &amp; fleet EVs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6060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06040" cy="109728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331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ACTUATORS (A)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Station Recommendation: Spatial EV routing</a:t>
            </a:r>
            <a:br/>
            <a:r>
              <a:t>• Bay Reservation: Locking dedicated physical ports</a:t>
            </a:r>
            <a:br/>
            <a:r>
              <a:t>• Discrete Scheduling: 15-min start/end timestamp booking</a:t>
            </a:r>
            <a:br/>
            <a:r>
              <a:t>• Power Throttling: Stepwise dynamic power rate control</a:t>
            </a:r>
            <a:br/>
            <a:r>
              <a:t>• Preemption: Pausing low-priority sessions for ambulances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6060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463040"/>
            <a:ext cx="2606040" cy="109728"/>
          </a:xfrm>
          <a:prstGeom prst="rect">
            <a:avLst/>
          </a:prstGeom>
          <a:solidFill>
            <a:srgbClr val="037F0C"/>
          </a:solidFill>
          <a:ln>
            <a:solidFill>
              <a:srgbClr val="037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91640"/>
            <a:ext cx="2331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7F0C"/>
                </a:solidFill>
              </a:defRPr>
            </a:pPr>
            <a:r>
              <a:t>SENSORS (S)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EV Telemetry: State of Charge (SoC %), GPS coordinates</a:t>
            </a:r>
            <a:br/>
            <a:r>
              <a:t>• Hardware Status: Port availability, temperature alarms</a:t>
            </a:r>
            <a:br/>
            <a:r>
              <a:t>• Grid Meters: Active transformer load (kW) telemetry</a:t>
            </a:r>
            <a:br/>
            <a:r>
              <a:t>• Solar Inverters: Real-time generation output (0–120kW)</a:t>
            </a:r>
            <a:br/>
            <a:r>
              <a:t>• User Inputs: Target battery % and departure deadline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The 5 Classical AI Reasoning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37160" cy="868680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ENGINE 1: GRAPH SEARCH  •  Informed A* Search &amp; Heuristics</a:t>
            </a:r>
          </a:p>
          <a:p>
            <a:pPr>
              <a:defRPr sz="1000">
                <a:solidFill>
                  <a:srgbClr val="545B64"/>
                </a:solidFill>
              </a:defRPr>
            </a:pPr>
            <a:r>
              <a:t>Evaluates road graph nodes using admissible f(n) = g(n) + h(n). Balances travel distance, queue delay, and pricing tariffs.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86868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ENGINE 2: CSP SCHEDULER  •  Backtracking with MRV &amp; LCV</a:t>
            </a:r>
          </a:p>
          <a:p>
            <a:pPr>
              <a:defRPr sz="1000">
                <a:solidFill>
                  <a:srgbClr val="545B64"/>
                </a:solidFill>
              </a:defRPr>
            </a:pPr>
            <a:r>
              <a:t>Assigns vehicles to 15-min slots under 8 hard constraints. Uses Minimum Remaining Values and Arc Consistency (AC-3).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37160" cy="868680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ENGINE 3: LOGIC INFERENCE  •  DPLL SAT &amp; Resolution Refutation</a:t>
            </a:r>
          </a:p>
          <a:p>
            <a:pPr>
              <a:defRPr sz="1000">
                <a:solidFill>
                  <a:srgbClr val="545B64"/>
                </a:solidFill>
              </a:defRPr>
            </a:pPr>
            <a:r>
              <a:t>Formal symbolic knowledge base running Forward/Backward chaining to prove safety rules and verify eligibility.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137160" cy="868680"/>
          </a:xfrm>
          <a:prstGeom prst="rect">
            <a:avLst/>
          </a:prstGeom>
          <a:solidFill>
            <a:srgbClr val="037F0C"/>
          </a:solidFill>
          <a:ln>
            <a:solidFill>
              <a:srgbClr val="037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ENGINE 4: MULTI-AGENT SYSTEM  •  FIPA-ACL Decentralized Coordination</a:t>
            </a:r>
          </a:p>
          <a:p>
            <a:pPr>
              <a:defRPr sz="1000">
                <a:solidFill>
                  <a:srgbClr val="545B64"/>
                </a:solidFill>
              </a:defRPr>
            </a:pPr>
            <a:r>
              <a:t>Autonomous EV, Station, Grid, and Coordinator agents collaborating via structured communicative acts (REQUEST, PROPOSE).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137160" cy="868680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ENGINE 5: GAME THEORY  •  Nash Bargaining &amp; Minimax Pruning</a:t>
            </a:r>
          </a:p>
          <a:p>
            <a:pPr>
              <a:defRPr sz="1000">
                <a:solidFill>
                  <a:srgbClr val="545B64"/>
                </a:solidFill>
              </a:defRPr>
            </a:pPr>
            <a:r>
              <a:t>Arbitrates concurrent slot contention. Computes cooperative Pareto frontier agreements and worst-case bounds.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 1 DETAILED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Heuristic Station Selection &amp; A* Path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EVALUATION FUNCTION ARCHITECTURE</a:t>
            </a:r>
          </a:p>
          <a:p>
            <a:pPr>
              <a:defRPr sz="1800" b="1">
                <a:solidFill>
                  <a:srgbClr val="0F1E36"/>
                </a:solidFill>
              </a:defRPr>
            </a:pPr>
            <a:r>
              <a:t>f(n) = g(n) + h(n)</a:t>
            </a:r>
            <a:br/>
          </a:p>
          <a:p>
            <a:pPr>
              <a:defRPr sz="1050">
                <a:solidFill>
                  <a:srgbClr val="16191F"/>
                </a:solidFill>
              </a:defRPr>
            </a:pPr>
            <a:r>
              <a:t>• Exact Path Cost g(n): Cumulative distance traversed from vehicle origin to network node n.</a:t>
            </a:r>
            <a:br/>
            <a:br/>
            <a:r>
              <a:t>• Admissible Heuristic h(n): Multi-factor lower bound:</a:t>
            </a:r>
            <a:br/>
            <a:r>
              <a:t>  h(n) = α · EuclideanDist(n, Goal) + β · QueueLatency + γ · TariffDiff</a:t>
            </a:r>
            <a:br/>
            <a:br/>
            <a:r>
              <a:t>• Mathematical Admissibility Proof: Since straight-line Euclidean distance is strictly ≤ actual road network distance (triangle inequality), h(n) never overestimates true cost.</a:t>
            </a:r>
            <a:br/>
            <a:br/>
            <a:r>
              <a:t>• Optimality Guarantee: Guarantees finding the mathematically optimal station without exhaustive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BENCHMARK ACROSS 5 SEARCH ALGORITHMS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1. Breadth-First Search (BFS):</a:t>
            </a:r>
            <a:br/>
            <a:r>
              <a:t>   - Explores shallowest nodes first (FIFO queue)</a:t>
            </a:r>
            <a:br/>
            <a:r>
              <a:t>   - High node expansion (48 nodes), misses tariff optimization</a:t>
            </a:r>
            <a:br/>
            <a:br/>
            <a:r>
              <a:t>2. Depth-First Search (DFS):</a:t>
            </a:r>
            <a:br/>
            <a:r>
              <a:t>   - Wanders down sub-optimal branches (LIFO stack)</a:t>
            </a:r>
            <a:br/>
            <a:r>
              <a:t>   - Severe path cost penalty (+65% over optimal)</a:t>
            </a:r>
            <a:br/>
            <a:br/>
            <a:r>
              <a:t>3. Uniform Cost Search (UCS / Dijkstra):</a:t>
            </a:r>
            <a:br/>
            <a:r>
              <a:t>   - Finds optimal cost but expands large frontier (34 nodes)</a:t>
            </a:r>
            <a:br/>
            <a:br/>
            <a:r>
              <a:t>4. Greedy Best-First Search:</a:t>
            </a:r>
            <a:br/>
            <a:r>
              <a:t>   - Fast exploration (12 nodes) but gets trapped in local minima</a:t>
            </a:r>
            <a:br/>
            <a:br/>
            <a:r>
              <a:t>5. A* Search (PROPOSED):</a:t>
            </a:r>
            <a:br/>
            <a:r>
              <a:t>   - Optimal path cost + minimal node expansion (16 nodes)</a:t>
            </a:r>
            <a:br/>
            <a:r>
              <a:t>   - Complete, admissible, and 68% faster than UCS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 2 DETAILED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Constraint Satisfaction Problem (CSP)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73152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72D3"/>
                </a:solidFill>
              </a:defRPr>
            </a:pPr>
            <a:r>
              <a:t>VARIABLES (X)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Each unserved vehicle session: X = {Session_i | i ∈ Active_EVs}</a:t>
            </a:r>
            <a:br/>
            <a:r>
              <a:t>Variables represent 15-minute charging allocations requiring an assignment.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73152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DOMAINS (D)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Candidate tuples: D_i = {(Station_s, Port_k, Slot_t)}</a:t>
            </a:r>
            <a:br/>
            <a:r>
              <a:t>Domain sizes span multiple bays and 15-min intervals across the scheduling horizon.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73152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CONSTRAINTS (C)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8 Physical Constraints:</a:t>
            </a:r>
            <a:br/>
            <a:r>
              <a:t>• Port non-overlap  • Departure deadlines</a:t>
            </a:r>
            <a:br/>
            <a:r>
              <a:t>• Connector match    • Transformer power limits</a:t>
            </a:r>
            <a:br/>
            <a:r>
              <a:t>• Solar availability • Min SoC arrival bounds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BACKTRACKING SEARCH OPTIMIZATION TECHNIQUES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Minimum Remaining Values (MRV): Variable ordering heuristic selecting the EV with the most constrained domain (fewest valid slots). Known as the 'Fail-First' principle, detecting dead-ends immediately.</a:t>
            </a:r>
            <a:br/>
            <a:br/>
            <a:r>
              <a:t>• Degree Heuristic: Breaks ties in MRV by selecting the variable involved in the largest number of constraints with other unassigned variables (e.g., overlapping deadlines).</a:t>
            </a:r>
            <a:br/>
            <a:br/>
            <a:r>
              <a:t>• Least Constraining Value (LCV): Value ordering heuristic that prioritizes the charging slot leaving maximum flexibility for neighboring vehicles, minimizing backtracking cycles.</a:t>
            </a:r>
            <a:br/>
            <a:br/>
            <a:r>
              <a:t>• Arc Consistency (AC-3) &amp; Forward Checking: Eliminates inconsistent values from unassigned domains whenever a variable is assigned, preventing thrashing.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 3 DETAILED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Symbolic Knowledge Base &amp; Logical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FORWARD CHAINING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Data-Driven Production Rules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Telemetry triggers rule firings</a:t>
            </a:r>
            <a:br/>
            <a:r>
              <a:t>• Example Rule: If Battery(SoC &lt; 15%) ∧ Distance(&gt; 10km) ⇒ Assert EmergencyPriority(EV)</a:t>
            </a:r>
            <a:br/>
            <a:r>
              <a:t>• Automatically derives operational directives without human oversight</a:t>
            </a:r>
            <a:br/>
            <a:r>
              <a:t>• Generates auditable forward deduction chains.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BACKWARD CHAINING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Goal-Directed Hypothesis Proof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Proves hypotheses backward to base axioms</a:t>
            </a:r>
            <a:br/>
            <a:r>
              <a:t>• Example Goal: Prove EligibleForFastCharge(EV-07, Station-3)</a:t>
            </a:r>
            <a:br/>
            <a:r>
              <a:t>• Recursively verifies: ConnectorCompatible ∧ PortAvailable ∧ HeadroomValid</a:t>
            </a:r>
            <a:br/>
            <a:r>
              <a:t>• Ensures 100% regulatory compliance before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DPLL &amp; RESOLUTION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Conjunctive Normal Form (CNF) Proofs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Davis-Putnam-Logemann-Loveland SAT solver</a:t>
            </a:r>
            <a:br/>
            <a:r>
              <a:t>• Converts safety policies into propositional CNF clauses</a:t>
            </a:r>
            <a:br/>
            <a:r>
              <a:t>• Robinson Resolution Refutation proves safety invariants by deriving empty clause (□)</a:t>
            </a:r>
            <a:br/>
            <a:r>
              <a:t>• Deterministic mathematical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 4 DETAILED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Decentralized Multi-Agent System (FIPA-ACL Protocol)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72D3"/>
                </a:solidFill>
              </a:defRPr>
            </a:pPr>
            <a:r>
              <a:t>EV AGENT (Ag_EV)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Represents individual vehicle</a:t>
            </a:r>
            <a:br/>
            <a:r>
              <a:t>• Calculates required energy ΔE</a:t>
            </a:r>
            <a:br/>
            <a:r>
              <a:t>• Negotiates slots before deadline</a:t>
            </a:r>
            <a:br/>
            <a:r>
              <a:t>• Adapts to rerouting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STATION AGENT (Ag_CS)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Manages hardware charging bays</a:t>
            </a:r>
            <a:br/>
            <a:r>
              <a:t>• Reports real-time bay availability</a:t>
            </a:r>
            <a:br/>
            <a:r>
              <a:t>• Enforces local service rating</a:t>
            </a:r>
            <a:br/>
            <a:r>
              <a:t>• Publishes current dynamic tariff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7F0C"/>
                </a:solidFill>
              </a:defRPr>
            </a:pPr>
            <a:r>
              <a:t>GRID AGENT (Ag_Grid)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Microgrid transformer guardian</a:t>
            </a:r>
            <a:br/>
            <a:r>
              <a:t>• Evaluates active load against threshold</a:t>
            </a:r>
            <a:br/>
            <a:r>
              <a:t>• Enforces mandatory load throttling</a:t>
            </a:r>
            <a:br/>
            <a:r>
              <a:t>• Prevents localized blackouts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6060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ENERGY AGENT (Ag_Solar)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Monitors on-site solar generation</a:t>
            </a:r>
            <a:br/>
            <a:r>
              <a:t>• Injects zero-carbon power into bays</a:t>
            </a:r>
            <a:br/>
            <a:r>
              <a:t>• Dispatches battery storage reserves</a:t>
            </a:r>
            <a:br/>
            <a:r>
              <a:t>• Optimizes green energy ratio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FIPA-ACL COMMUNICATIVE ACT WORKFLOW &amp; AGENT COORDINATOR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1. Ag_EV sends REQUEST(Slots, ΔE, Deadline)  →  Ag_Coord</a:t>
            </a:r>
            <a:br/>
            <a:r>
              <a:t>2. Ag_Coord queries Ag_CS via CFP (Call For Proposals) and Ag_Grid for transformer power clearance</a:t>
            </a:r>
            <a:br/>
            <a:r>
              <a:t>3. Ag_CS replies with PROPOSE(StationID, PortID, PowerkW, CostINR)</a:t>
            </a:r>
            <a:br/>
            <a:r>
              <a:t>4. Ag_Coord executes CSP/Nash pass and responds: ACCEPT-PROPOSAL or REJECT-PROPOSAL</a:t>
            </a:r>
            <a:br/>
            <a:r>
              <a:t>5. Final confirmation broadcast via INFORM(ConfirmedReservationID) — Zero centralized single-point-of-failure.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 5 DETAILED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Game-Theoretic Slot Conflict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COOPERATIVE NASH BARGAINING SOLUTION (NBS)</a:t>
            </a:r>
          </a:p>
          <a:p>
            <a:pPr>
              <a:defRPr sz="1400" b="1">
                <a:solidFill>
                  <a:srgbClr val="0F1E36"/>
                </a:solidFill>
              </a:defRPr>
            </a:pPr>
            <a:r>
              <a:t>Nash Product:  S* = argmax [ (U1 - d1) · (U2 - d2) ]</a:t>
            </a:r>
            <a:br/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Context: Two peer commuter vehicles contending for the single remaining 150 kW DC charging slot.</a:t>
            </a:r>
            <a:br/>
            <a:br/>
            <a:r>
              <a:t>• Disagreement Fallback d_i: The utility value of being forced to travel to an alternate distant charging hub.</a:t>
            </a:r>
            <a:br/>
            <a:br/>
            <a:r>
              <a:t>• Pareto Optimality: System identifies the resource split along the Pareto frontier where neither vehicle can improve its outcome without hurting the other.</a:t>
            </a:r>
            <a:br/>
            <a:br/>
            <a:r>
              <a:t>• Axiomatic Fairness: Guarantees Invariance to Affine Transformations, Symmetry, and Independence of Irrelevant Alternatives (IIA).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NON-COOPERATIVE &amp; ADVERSARIAL MODELS</a:t>
            </a:r>
          </a:p>
          <a:p>
            <a:pPr>
              <a:defRPr sz="1400" b="1">
                <a:solidFill>
                  <a:srgbClr val="0F1E36"/>
                </a:solidFill>
              </a:defRPr>
            </a:pPr>
            <a:r>
              <a:t>Minimax Search with Alpha-Beta Pruning</a:t>
            </a:r>
            <a:br/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Worst-Case Bounds: Models resource contention under selfish, uncooperative agent strategies.</a:t>
            </a:r>
            <a:br/>
            <a:br/>
            <a:r>
              <a:t>• Alpha-Beta Pruning: Prunes game-tree branches where guaranteed payoff is already bounded by earlier states, reducing evaluation depth by up to 50%.</a:t>
            </a:r>
            <a:br/>
            <a:br/>
            <a:r>
              <a:t>• Rubinstein Alternating Offers: Models multi-round bargaining with a time-discounting factor δ ∈ (0, 1), driving rapid convergence toward unique Subgame Perfect Equilibrium (SPE).</a:t>
            </a:r>
            <a:br/>
            <a:br/>
            <a:r>
              <a:t>• Shapley Value Attribution: Measures exact marginal contribution of individual vehicles toward aggregate grid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GEOGRAPHIC REALISM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72 Metro Charging Stations Dataset (Bengaluru Corridor)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72 VERIFIED HUBS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Real-world commercial charging hubs across high-density metro corridors (Indiranagar, Whitefield, Koramangala).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LEADING OPERATORS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Authentic station hardware profiles from Shell Recharge, BPCL, Ather Grid, Jio-bp, Zeon, and ChargeZone.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MULTIMODAL PORTS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Dual-connector setups: High-speed CCS2 Fast DC (50–150 kW) and standard Type-2 AC (7.4–22 kW).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606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7F0C"/>
                </a:solidFill>
              </a:defRPr>
            </a:pPr>
            <a:r>
              <a:t>OFFLINE REPRODUCIBILITY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100% self-sufficient dataset embedded locally; zero reliance on unstable external third-party APIs.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INTERACTIVE LEAFLET GEOGRAPHIC DASHBOARD INTEGRATION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Full Spatial Mapping: Integrated Leaflet map rendering all 72 stations with color-coded operational states:</a:t>
            </a:r>
            <a:br/>
            <a:r>
              <a:t>   - Green Pins: Operational with available high-speed CCS2/Type-2 bays.</a:t>
            </a:r>
            <a:br/>
            <a:r>
              <a:t>   - Blue Pins: Fully occupied, active charging in progress.</a:t>
            </a:r>
            <a:br/>
            <a:r>
              <a:t>   - Red Pins: Hardware fault or substation maintenance outage.</a:t>
            </a:r>
            <a:br/>
            <a:br/>
            <a:r>
              <a:t>• Real-Time Routing Traces: Visualizes A* generated path vectors connecting EV origin coordinates directly to assigned bays.</a:t>
            </a:r>
            <a:br/>
            <a:r>
              <a:t>• Substation Microgrids: Displays localized power transformers (300–450 kW) with dynamic utilization percentage meters.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FAULT RESILIENCE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Automated Dynamic Stress Testing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"/>
          </a:xfrm>
          <a:prstGeom prst="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SCENARIO 1: PEAK RUSH-HOUR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Fleet demand surges by 300% during evening commute (5:00–8:00 PM).</a:t>
            </a:r>
            <a:br/>
            <a:r>
              <a:t>• Uncoordinated baseline causes 45-min queues and 8 transformer breaches.</a:t>
            </a:r>
            <a:br/>
            <a:r>
              <a:t>• Proposed AI triggers multi-station load shifting, maintaining 4.1 min wait.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SCENARIO 2: TRANSFORMER FAILURE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Substation transformer suffers sudden 50% capacity curtailment (400kW → 200kW).</a:t>
            </a:r>
            <a:br/>
            <a:r>
              <a:t>• Grid Agent enforces immediate dynamic power throttling.</a:t>
            </a:r>
            <a:br/>
            <a:r>
              <a:t>• Non-critical vehicles stepped down to 25 kW or rerouted, preventing blackout.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972D3"/>
                </a:solidFill>
              </a:defRPr>
            </a:pPr>
            <a:r>
              <a:t>SCENARIO 3: HARDWARE OUTAGE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Major 6-bay metro charging station experiences hardware failure.</a:t>
            </a:r>
            <a:br/>
            <a:r>
              <a:t>• Fault alert immediately prunes station from active CSP domains.</a:t>
            </a:r>
            <a:br/>
            <a:r>
              <a:t>• A* engine re-routes incoming vehicles to adjacent stations seamlessly.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257800" cy="73152"/>
          </a:xfrm>
          <a:prstGeom prst="rect">
            <a:avLst/>
          </a:prstGeom>
          <a:solidFill>
            <a:srgbClr val="037F0C"/>
          </a:solidFill>
          <a:ln>
            <a:solidFill>
              <a:srgbClr val="037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7F0C"/>
                </a:solidFill>
              </a:defRPr>
            </a:pPr>
            <a:r>
              <a:t>SCENARIO 4: EMERGENCY PREEMPTION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Ambulance 108 arrives with 8% battery State of Charge.</a:t>
            </a:r>
            <a:br/>
            <a:r>
              <a:t>• Logic Engine executes immediate priority rule firing.</a:t>
            </a:r>
            <a:br/>
            <a:r>
              <a:t>• Lowest-priority commuter session paused; ambulance receives 150 kW DC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Comparative Benchmark Results (Monte Carlo Fleet Runs)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7F0C"/>
                </a:solidFill>
              </a:defRPr>
            </a:pPr>
            <a:r>
              <a:t>4.12 min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AVG WAIT TIME</a:t>
            </a:r>
          </a:p>
          <a:p>
            <a:pPr>
              <a:defRPr sz="850">
                <a:solidFill>
                  <a:srgbClr val="545B64"/>
                </a:solidFill>
              </a:defRPr>
            </a:pPr>
            <a:r>
              <a:t>78.0% Reduction vs. FCFS (18.75m)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37F0C"/>
                </a:solidFill>
              </a:defRPr>
            </a:pPr>
            <a:r>
              <a:t>0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GRID OVERLOADS</a:t>
            </a:r>
          </a:p>
          <a:p>
            <a:pPr>
              <a:defRPr sz="850">
                <a:solidFill>
                  <a:srgbClr val="545B64"/>
                </a:solidFill>
              </a:defRPr>
            </a:pPr>
            <a:r>
              <a:t>100% Transformer Safety (vs. 8 breaches)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972D3"/>
                </a:solidFill>
              </a:defRPr>
            </a:pPr>
            <a:r>
              <a:t>89.4%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PORT UTILIZATION</a:t>
            </a:r>
          </a:p>
          <a:p>
            <a:pPr>
              <a:defRPr sz="850">
                <a:solidFill>
                  <a:srgbClr val="545B64"/>
                </a:solidFill>
              </a:defRPr>
            </a:pPr>
            <a:r>
              <a:t>+27.3% Improvement in bay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7211"/>
                </a:solidFill>
              </a:defRPr>
            </a:pPr>
            <a:r>
              <a:t>108.6 kWh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SOLAR INTEGRATION</a:t>
            </a:r>
          </a:p>
          <a:p>
            <a:pPr>
              <a:defRPr sz="850">
                <a:solidFill>
                  <a:srgbClr val="545B64"/>
                </a:solidFill>
              </a:defRPr>
            </a:pPr>
            <a:r>
              <a:t>+145.7% Greater clean energy dispatch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EMPIRICAL BENCHMARK MATRIX (Seeded Monte Carlo Runs, Seed=42)</a:t>
            </a:r>
          </a:p>
          <a:p>
            <a:pPr>
              <a:defRPr sz="950">
                <a:solidFill>
                  <a:srgbClr val="16191F"/>
                </a:solidFill>
              </a:defRPr>
            </a:pPr>
            <a:r>
              <a:t>• PROPOSED AI SYSTEM (A* + CSP + Logic + Nash):</a:t>
            </a:r>
            <a:br/>
            <a:r>
              <a:t>   Wait: 4.12 min  |  Grid Overloads: 0  |  Utilization: 89.4%  |  Solar Used: 108.6 kWh  |  Emergency On-Time: 100%</a:t>
            </a:r>
            <a:br/>
            <a:br/>
            <a:r>
              <a:t>• First-Come-First-Served (FCFS) Baseline:</a:t>
            </a:r>
            <a:br/>
            <a:r>
              <a:t>   Wait: 18.75 min  |  Grid Overloads: 8  |  Utilization: 62.1%  |  Solar Used: 44.2 kWh  |  Emergency On-Time: 42%</a:t>
            </a:r>
            <a:br/>
            <a:br/>
            <a:r>
              <a:t>• Nearest Station Greedy Dispatch:</a:t>
            </a:r>
            <a:br/>
            <a:r>
              <a:t>   Wait: 24.30 min  |  Grid Overloads: 12 |  Utilization: 58.3%  |  Solar Used: 38.5 kWh  |  Emergency On-Time: 28.5%</a:t>
            </a:r>
            <a:br/>
            <a:br/>
            <a:r>
              <a:t>• Priority Queue Dispatch:</a:t>
            </a:r>
            <a:br/>
            <a:r>
              <a:t>   Wait: 14.10 min  |  Grid Overloads: 5  |  Utilization: 69.8%  |  Solar Used: 61.0 kWh  |  Emergency On-Time: 75%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Full-Stack Implementation &amp; Test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BACKEND ARCHITECTURE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FastAPI &amp; Python 3.11 asynchronous microservices</a:t>
            </a:r>
            <a:br/>
            <a:r>
              <a:t>• Native mathematical algorithms (Zero external solver bloat)</a:t>
            </a:r>
            <a:br/>
            <a:r>
              <a:t>• Pydantic v2 strict schemas for data validation</a:t>
            </a:r>
            <a:br/>
            <a:r>
              <a:t>• Discrete-Event simulation engine with state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0972D3"/>
          </a:solidFill>
          <a:ln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FRONTEND ARCHITECTURE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React 18 + Vite for high-performance responsive UI</a:t>
            </a:r>
            <a:br/>
            <a:r>
              <a:t>• Official AWS Amazon Ember typography system</a:t>
            </a:r>
            <a:br/>
            <a:r>
              <a:t>• Leaflet.js interactive OpenStreetMap visualization</a:t>
            </a:r>
            <a:br/>
            <a:r>
              <a:t>• TailwindCSS with professional AWS color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037F0C"/>
          </a:solidFill>
          <a:ln>
            <a:solidFill>
              <a:srgbClr val="037F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7F0C"/>
                </a:solidFill>
              </a:defRPr>
            </a:pPr>
            <a:r>
              <a:t>VERIFIED TEST SUITE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124 Passing automated test cases across 21 test files</a:t>
            </a:r>
            <a:br/>
            <a:r>
              <a:t>• Covers A*, CSP, DPLL SAT, Minimax, FIPA-ACL</a:t>
            </a:r>
            <a:br/>
            <a:r>
              <a:t>• Regression &amp; stress scenario resilience validated</a:t>
            </a:r>
            <a:br/>
            <a:r>
              <a:t>• 100% deterministic reproducibility guarantee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OPERATIONAL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10 Dedicated Functional Workspaces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1. Dashboard Overview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Live monitoring of fleet SoC %, station occupancy, grid load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3619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2. EV Request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Formulate vehicle charging requests with battery specs &amp;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3. Station Discovery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Interactive map of 72 stations with live bay status &amp; power ratings.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2316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9631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4. Search Benchmarks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Direct comparison of BFS, DFS, UCS, Greedy, and A*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5. CSP Scheduling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Gantt matrix of 15-min charging slots under hard grid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3832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45643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6. Knowledge &amp; Logic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Rule verification workbench with forward chaining &amp; DPLL proofs.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7. Agent System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Real-time FIPA-ACL message broker communication room.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434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41655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8. Conflict Decision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Game-theoretic slot arbitration (Nash bargaining vs Minimax).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7667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9. Decision Trace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Complete transparent explanation audit of WHY decisions are made.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30352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376672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36"/>
                </a:solidFill>
              </a:defRPr>
            </a:pPr>
            <a:r>
              <a:t>10. System Evaluation</a:t>
            </a:r>
          </a:p>
          <a:p>
            <a:pPr>
              <a:defRPr sz="950">
                <a:solidFill>
                  <a:srgbClr val="545B64"/>
                </a:solidFill>
              </a:defRPr>
            </a:pPr>
            <a:r>
              <a:t>Comparative Monte Carlo strategy benchmarking against FCFS.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972D3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Key Contributions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972D3"/>
                </a:solidFill>
              </a:defRPr>
            </a:pPr>
            <a:r>
              <a:t>KEY ACADEMIC &amp; PRACTICAL CONTRIBUTIONS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1. Deterministic Excellence:</a:t>
            </a:r>
            <a:br/>
            <a:r>
              <a:t>   Proves classical symbolic AI delivers superior, explainable, and zero-hallucination decision support for urban power grids.</a:t>
            </a:r>
            <a:br/>
            <a:br/>
            <a:r>
              <a:t>2. Multi-Objective Harmony:</a:t>
            </a:r>
            <a:br/>
            <a:r>
              <a:t>   Simultaneously resolves the Urban EV Trilemma, reducing driver wait time by 78% while guaranteeing 0 grid overloads.</a:t>
            </a:r>
            <a:br/>
            <a:br/>
            <a:r>
              <a:t>3. Multi-Engine Synthesis:</a:t>
            </a:r>
            <a:br/>
            <a:r>
              <a:t>   Successfully unifies A* search, Backtracking CSP (MRV/LCV), Propositional DPLL, FIPA-ACL MAS, and Nash Bargaining.</a:t>
            </a:r>
            <a:br/>
            <a:br/>
            <a:r>
              <a:t>4. Engineering Rigor:</a:t>
            </a:r>
            <a:br/>
            <a:r>
              <a:t>   End-to-end production web platform backed by 124 passing unit/system tests and real-world geographic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7211"/>
                </a:solidFill>
              </a:defRPr>
            </a:pPr>
            <a:r>
              <a:t>FUTURE RESEARCH &amp; INDUSTRIAL EXPANSION</a:t>
            </a:r>
          </a:p>
          <a:p>
            <a:pPr>
              <a:defRPr sz="1000">
                <a:solidFill>
                  <a:srgbClr val="16191F"/>
                </a:solidFill>
              </a:defRPr>
            </a:pPr>
            <a:r>
              <a:t>• Vehicle-to-Grid (V2G) Bi-Directional Discharging:</a:t>
            </a:r>
            <a:br/>
            <a:r>
              <a:t>  Extending CSP variables to schedule parked EVs feeding energy back to the microgrid during peak tariff spikes.</a:t>
            </a:r>
            <a:br/>
            <a:br/>
            <a:r>
              <a:t>• Distributed Mesh Grid Power-Flow Analysis:</a:t>
            </a:r>
            <a:br/>
            <a:r>
              <a:t>  Incorporating AC power flow equations (voltage sag, reactive power, line impedance) across multi-substation grids.</a:t>
            </a:r>
            <a:br/>
            <a:br/>
            <a:r>
              <a:t>• Real-Time Cloud Cover &amp; Weather Integration:</a:t>
            </a:r>
            <a:br/>
            <a:r>
              <a:t>  Physical solar irradiance forecasting models predicting solar output drops 30 minutes in advance.</a:t>
            </a:r>
            <a:br/>
            <a:br/>
            <a:r>
              <a:t>• Fleet Fleet Heterogeneity:</a:t>
            </a:r>
            <a:br/>
            <a:r>
              <a:t>  Expanded battery degradation constraints for heavy electric buses and urban commercial delivery fleets.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200" b="1">
                <a:solidFill>
                  <a:srgbClr val="EC7211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10698480" cy="2286000"/>
          </a:xfrm>
          <a:prstGeom prst="roundRect">
            <a:avLst/>
          </a:prstGeom>
          <a:solidFill>
            <a:srgbClr val="162A4A"/>
          </a:solidFill>
          <a:ln w="12700">
            <a:solidFill>
              <a:srgbClr val="097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7211"/>
                </a:solidFill>
              </a:defRPr>
            </a:pPr>
            <a:r>
              <a:t>PROJECT TEAM MEMBERS: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Sam Devaraja J  —  Roll No: 240701463</a:t>
            </a:r>
            <a:br/>
            <a:r>
              <a:t>• Karthik Subramanian S  —  Roll No: 240701233</a:t>
            </a:r>
          </a:p>
          <a:p>
            <a:br/>
            <a:pPr>
              <a:defRPr sz="1100">
                <a:solidFill>
                  <a:srgbClr val="B4C8E1"/>
                </a:solidFill>
              </a:defRPr>
            </a:pPr>
            <a:r>
              <a:t>Intelligent EV Charging &amp; Resource Management System • Academic Year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